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screenshot5.png"/><Relationship Id="rId6" Type="http://schemas.openxmlformats.org/officeDocument/2006/relationships/image" Target="../media/screenshot7.png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screenshot4.png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screenshot1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5" Type="http://schemas.openxmlformats.org/officeDocument/2006/relationships/image" Target="../media/screenshot3.png"/><Relationship Id="rId6" Type="http://schemas.openxmlformats.org/officeDocument/2006/relationships/image" Target="../media/screenshot2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F59E0B"/>
                </a:solidFill>
              </a:rPr>
              <a:t>GLOBAL SUPERSTORE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93C5FD"/>
                </a:solidFill>
              </a:rPr>
              <a:t>Data Project Report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5029200" cy="36576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54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SQL Database Design  ·  Star Schema Modelling  ·  Power BI Dashboard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May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4160520"/>
            <a:ext cx="1051560" cy="777240"/>
          </a:xfrm>
          <a:prstGeom prst="rect">
            <a:avLst/>
          </a:prstGeom>
          <a:solidFill>
            <a:srgbClr val="1E3A5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42062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51,290+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9280" y="453542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Records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858000" y="4160520"/>
            <a:ext cx="1051560" cy="777240"/>
          </a:xfrm>
          <a:prstGeom prst="rect">
            <a:avLst/>
          </a:prstGeom>
          <a:solidFill>
            <a:srgbClr val="1E3A5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42062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10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453542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SQL Queries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046720" y="4160520"/>
            <a:ext cx="1051560" cy="777240"/>
          </a:xfrm>
          <a:prstGeom prst="rect">
            <a:avLst/>
          </a:prstGeom>
          <a:solidFill>
            <a:srgbClr val="1E3A5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46720" y="420624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0" y="453542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Dashboard Pages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0292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1124712"/>
            <a:ext cx="420624" cy="420624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19786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Dataset Overview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91640" y="137160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Source data, fields, and engineered features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046720" y="12070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~2 min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1783080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783080"/>
            <a:ext cx="5029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78308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97280" y="1901952"/>
            <a:ext cx="420624" cy="420624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1975104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9164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Database Design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691640" y="21488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Star schema architecture and table relationships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046720" y="19842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~2 min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57200" y="2560320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" y="2560320"/>
            <a:ext cx="5029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7200" y="25603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1097280" y="2679192"/>
            <a:ext cx="420624" cy="420624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2752344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691640" y="2651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SQL Query Analysis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691640" y="292608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 analytical queries and business logic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8046720" y="27614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~2 min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457200" y="3337560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57200" y="3337560"/>
            <a:ext cx="50292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57200" y="33375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1097280" y="3456432"/>
            <a:ext cx="420624" cy="420624"/>
          </a:xfrm>
          <a:prstGeom prst="ellipse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" y="3529584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691640" y="3429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Power BI Dashboard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691640" y="37033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Five dashboard pages and key visualisations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8046720" y="35387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~2 min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457200" y="4114800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57200" y="4114800"/>
            <a:ext cx="50292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457200" y="411480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38" name="Shape 32"/>
          <p:cNvSpPr/>
          <p:nvPr/>
        </p:nvSpPr>
        <p:spPr>
          <a:xfrm>
            <a:off x="1097280" y="4233672"/>
            <a:ext cx="420624" cy="420624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" y="4306824"/>
            <a:ext cx="274320" cy="27432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691640" y="4206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Key Findings &amp; Insights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1691640" y="448056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Data-driven conclusions and recommendations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8046720" y="43159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~2 min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 · 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54864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07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Source Dataset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Global Superstore — a retail analytics dataset covering transactions across multiple international markets, spanning 2012–2015.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43000"/>
            <a:ext cx="19202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1795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51,290+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9160" y="14904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Orders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03720" y="114300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03720" y="1143000"/>
            <a:ext cx="19202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1795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30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03720" y="14904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Source Fields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182880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828800"/>
            <a:ext cx="19202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8653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147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09160" y="21762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Countries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03720" y="1828800"/>
            <a:ext cx="1920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03720" y="1828800"/>
            <a:ext cx="192024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8653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03720" y="21762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Segments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468880"/>
            <a:ext cx="82296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2542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Key Field Groups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880360"/>
          <a:ext cx="7955280" cy="1920240"/>
        </p:xfrm>
        <a:graphic>
          <a:graphicData uri="http://schemas.openxmlformats.org/drawingml/2006/table">
            <a:tbl>
              <a:tblPr/>
              <a:tblGrid>
                <a:gridCol w="1463040"/>
                <a:gridCol w="3383280"/>
                <a:gridCol w="310896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Field Group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Fields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</a:rPr>
                        <a:t>Order Identity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order_id, order_date, ship_date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Track each transaction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</a:rPr>
                        <a:t>Customer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customer_id, segment, market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Identify customer &amp; segment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</a:rPr>
                        <a:t>Geography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country, state, city, region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4-level spatial hierarchy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</a:rPr>
                        <a:t>Product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category, sub_category, product_name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3-level product taxonomy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</a:rPr>
                        <a:t>Financials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sales, profit, discount, shipping_cost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Core KPIs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B2A4A"/>
                          </a:solidFill>
                        </a:rPr>
                        <a:t>Engineered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profit_margin, is_weekend, discount_bin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</a:rPr>
                        <a:t>Derived features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 · DATABASE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1920240"/>
            <a:ext cx="2743200" cy="201168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0" y="1920240"/>
            <a:ext cx="274320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fact_sales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23317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order_id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91840" y="256946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customer_id (FK)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91840" y="28072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product_key (FK)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91840" y="30449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location_key (FK)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91840" y="32826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ship_key (FK)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91840" y="35204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</a:rPr>
              <a:t>sales / profit / discount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005840"/>
            <a:ext cx="265176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005840"/>
            <a:ext cx="26517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005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dim_customers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132588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customer_id (PK)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155448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customer_name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5760" y="178308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segment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201168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market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3063240"/>
            <a:ext cx="265176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063240"/>
            <a:ext cx="26517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063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dim_products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38328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product_key (PK)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361188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product_id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384048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category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" y="406908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sub_category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26480" y="1005840"/>
            <a:ext cx="265176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005840"/>
            <a:ext cx="26517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10058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dim_location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17920" y="132588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location_key (PK)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17920" y="155448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country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17920" y="178308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city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17920" y="201168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state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17920" y="224028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region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26480" y="3063240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3063240"/>
            <a:ext cx="26517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6480" y="3063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dim_shipping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17920" y="338328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ship_key (PK)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17920" y="361188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ship_mode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17920" y="3840480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order_priority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0" y="164592"/>
            <a:ext cx="26517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0" y="164592"/>
            <a:ext cx="265176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0" y="1645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dim_date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91840" y="484632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date_key (PK)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291840" y="713232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order_year/month/quarter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291840" y="941832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</a:rPr>
              <a:t>is_weekend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926080" y="1645920"/>
            <a:ext cx="274320" cy="73152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2926080" y="3429000"/>
            <a:ext cx="274320" cy="4572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5943600" y="1645920"/>
            <a:ext cx="182880" cy="73152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5943600" y="3429000"/>
            <a:ext cx="182880" cy="4572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4572000" y="457200"/>
            <a:ext cx="9144" cy="1463040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 · SQL QUERIES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Analytical SQL Queries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47548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Total Sales &amp; Profit per Year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32688" y="1499616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4996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GROUP BY / SUM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00600" y="1115568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115568"/>
            <a:ext cx="47548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115568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67528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Top 5 Products by Sales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67528" y="1499616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67528" y="14996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TOP N / ORDER BY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1865376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1865376"/>
            <a:ext cx="47548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865376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" y="1938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High-Value Customers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32688" y="2249424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22494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HAVING &gt; 5000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00600" y="1865376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865376"/>
            <a:ext cx="47548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865376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67528" y="1938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Order Count per Region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67528" y="2249424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67528" y="22494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COUNT DISTINCT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2615184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2615184"/>
            <a:ext cx="47548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615184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2688" y="26883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Products Above Avg Sales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32688" y="2999232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29992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Scalar Subquery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00600" y="2615184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2615184"/>
            <a:ext cx="47548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615184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67528" y="26883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Profit Margin per Segment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67528" y="2999232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67528" y="29992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SUM/SUM ratio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65760" y="3364992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5760" y="3364992"/>
            <a:ext cx="47548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364992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32688" y="34381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Monthly Sales Trend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32688" y="3749040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D97706">
              <a:alpha val="18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2688" y="3749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Multi-col GROUP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00600" y="3364992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00600" y="3364992"/>
            <a:ext cx="47548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3364992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Q8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367528" y="34381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Highest Single Order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367528" y="3749040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D97706">
              <a:alpha val="18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67528" y="3749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MAX Subquery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65760" y="4114800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65760" y="4114800"/>
            <a:ext cx="475488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11480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Q9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932688" y="4187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Top Shipping Modes by Profit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932688" y="4498848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059669">
              <a:alpha val="18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32688" y="4498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JOIN + ORDER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800600" y="4114800"/>
            <a:ext cx="4160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800600" y="4114800"/>
            <a:ext cx="475488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0600" y="411480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Q10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367528" y="4187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Sales Summary View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367528" y="4498848"/>
            <a:ext cx="1371600" cy="201168"/>
          </a:xfrm>
          <a:prstGeom prst="roundRect">
            <a:avLst>
              <a:gd name="adj" fmla="val 50000"/>
            </a:avLst>
          </a:prstGeom>
          <a:solidFill>
            <a:srgbClr val="059669">
              <a:alpha val="18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67528" y="4498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</a:rPr>
              <a:t>CREATE VIEW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 · SQL DEEP 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Highlights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73152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Q1 — Total Sales &amp; Profit per Year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48132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Joins fact_sales with dim_date and aggregates annual revenue and profit to reveal growth trajectory.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26280" y="1170432"/>
            <a:ext cx="4114800" cy="104241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1887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d.order_year,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SUM(f.sales)  AS total_sales,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SUM(f.profit) AS total_profit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fact_sales f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dim_date d ON f.order_date = d.date_key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d.order_year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d.order_year;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8412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377440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Q3 — High-Value Customers (HAVING)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7614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HAVING clause filters post-aggregation — customers whose total revenue exceeds 5,000 USD.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26280" y="2450592"/>
            <a:ext cx="4114800" cy="104241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4688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c.customer_name,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SUM(f.sales) AS total_sales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fact_sales f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dim_customers c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ON f.customer_id = c.customer_id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c.customer_name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SUM(f.sales) &gt; 5000;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657600"/>
            <a:ext cx="73152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Q5 — Products Above Average Sales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0416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Scalar subquery computes global average; outer query filters products exceeding that threshold.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26280" y="3730752"/>
            <a:ext cx="4114800" cy="1042416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3749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p.product_name,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SUM(f.sales) AS total_sales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fact_sales f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dim_products p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ON f.product_key = p.product_key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p.product_name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SUM(f.sales) &gt;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(SELECT AVG(sales) FROM fact_sales);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C5FD"/>
                </a:solidFill>
              </a:rPr>
              <a:t>Five analytical pages translating SQL findings into interactive business intelligence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141732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834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Sales Overview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86000" y="2834640"/>
            <a:ext cx="14173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834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3291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Product Performance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931920" y="2834640"/>
            <a:ext cx="14173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2834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1920" y="3291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Customer Analysis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577840" y="2834640"/>
            <a:ext cx="141732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834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77840" y="3291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Shipping &amp; Logistics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223760" y="2834640"/>
            <a:ext cx="141732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2834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23760" y="3291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Time Intelligence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008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04 ·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PAGE 1 · SALES 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874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1874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13M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Total Sales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051560"/>
            <a:ext cx="1874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51560"/>
            <a:ext cx="1874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1155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1.47M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14813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Total Profit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1155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103M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14813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Total Orders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1051560"/>
            <a:ext cx="18745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0" y="1051560"/>
            <a:ext cx="1874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1155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242.08K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75120" y="14813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Profit Margin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1965960"/>
            <a:ext cx="53035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2057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Sales vs Profit by Product</a:t>
            </a:r>
            <a:endParaRPr lang="en-US" sz="1100" dirty="0"/>
          </a:p>
        </p:txBody>
      </p:sp>
      <p:pic xmlns:p="http://schemas.openxmlformats.org/presentationml/2006/main">
        <p:nvPicPr>
          <p:cNvPr id="901" name="Screenshot901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65760" y="2286000"/>
            <a:ext cx="5303520" cy="2514600"/>
          </a:xfrm>
          <a:prstGeom xmlns:a="http://schemas.openxmlformats.org/drawingml/2006/main"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852160" y="1965960"/>
            <a:ext cx="29260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989320" y="2057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Sales by Market</a:t>
            </a:r>
            <a:endParaRPr lang="en-US" sz="1100" dirty="0"/>
          </a:p>
        </p:txBody>
      </p:sp>
      <p:pic xmlns:p="http://schemas.openxmlformats.org/presentationml/2006/main">
        <p:nvPicPr>
          <p:cNvPr id="902" name="Screenshot902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852160" y="2286000"/>
            <a:ext cx="2926080" cy="2514600"/>
          </a:xfrm>
          <a:prstGeom xmlns:a="http://schemas.openxmlformats.org/drawingml/2006/main"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PAGE 2 · PRODUCT 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50292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43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Sales by Category &amp; Sub-Category</a:t>
            </a:r>
            <a:endParaRPr lang="en-US" sz="1100" dirty="0"/>
          </a:p>
        </p:txBody>
      </p:sp>
      <p:pic xmlns:p="http://schemas.openxmlformats.org/presentationml/2006/main">
        <p:nvPicPr>
          <p:cNvPr id="903" name="Screenshot903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65760" y="1371600"/>
            <a:ext cx="5029200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77840" y="1051560"/>
            <a:ext cx="3200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77840" y="1051560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1188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Technology dominates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60720" y="1508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Phones &amp; Copiers drive the highest revenue in the dataset.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577840" y="2286000"/>
            <a:ext cx="3200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228600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0" y="2423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Furniture margins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60720" y="2743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Tables show high revenue but carry lower profit margins.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577840" y="3520440"/>
            <a:ext cx="3200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77840" y="352044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60720" y="3657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Top 5 confirm Q2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760720" y="3977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SQL Query 2 correctly identifies Phones, Chairs &amp; Storage as top SKUs.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PAGE 3 · CUSTOMER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8404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43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Revenue by Segment</a:t>
            </a:r>
            <a:endParaRPr lang="en-US" sz="1100" dirty="0"/>
          </a:p>
        </p:txBody>
      </p:sp>
      <p:pic xmlns:p="http://schemas.openxmlformats.org/presentationml/2006/main">
        <p:nvPicPr>
          <p:cNvPr id="904" name="Screenshot904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65760" y="1371600"/>
            <a:ext cx="3840480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434840" y="1051560"/>
            <a:ext cx="4343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34840" y="1051560"/>
            <a:ext cx="914400" cy="1097280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34840" y="13075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51.06%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434840" y="17647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Consumer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0" y="1325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Largest segment by revenue — primary marketing target.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34840" y="2286000"/>
            <a:ext cx="4343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34840" y="2286000"/>
            <a:ext cx="914400" cy="109728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34840" y="25420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</a:rPr>
              <a:t>30.07%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4434840" y="29992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Corporate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86400" y="2560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High average order value — key account programme candidate.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434840" y="3520440"/>
            <a:ext cx="4343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434840" y="3520440"/>
            <a:ext cx="914400" cy="109728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34840" y="37764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18.88%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4434840" y="42336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Home Office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486400" y="3794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Smallest segment but consistent growth trend 2012–2015.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PAGES 4 &amp; 5 · SHIPPING + TIME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&amp; Time Intelligence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Profit by Shipping Mode</a:t>
            </a:r>
            <a:endParaRPr lang="en-US" sz="1100" dirty="0"/>
          </a:p>
        </p:txBody>
      </p:sp>
      <p:pic xmlns:p="http://schemas.openxmlformats.org/presentationml/2006/main">
        <p:nvPicPr>
          <p:cNvPr id="905" name="Screenshot905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365760" y="1371600"/>
            <a:ext cx="4023360" cy="2514600"/>
          </a:xfrm>
          <a:prstGeom xmlns:a="http://schemas.openxmlformats.org/drawingml/2006/main"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0" y="1051560"/>
            <a:ext cx="42062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0916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Monthly Sales Trend (2015)</a:t>
            </a:r>
            <a:endParaRPr lang="en-US" sz="1100" dirty="0"/>
          </a:p>
        </p:txBody>
      </p:sp>
      <p:pic xmlns:p="http://schemas.openxmlformats.org/presentationml/2006/main">
        <p:nvPicPr>
          <p:cNvPr id="906" name="Screenshot906"/>
          <p:cNvPicPr>
            <a:picLocks xmlns:a="http://schemas.openxmlformats.org/drawingml/2006/main" noChangeAspect="1"/>
          </p:cNvPicPr>
          <p:nvPr/>
        </p:nvPicPr>
        <p:blipFill>
          <a:blip xmlns:a="http://schemas.openxmlformats.org/drawingml/2006/main" xmlns:r="http://schemas.openxmlformats.org/officeDocument/2006/relationships" r:embed="rId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572000" y="1371600"/>
            <a:ext cx="4206240" cy="2514600"/>
          </a:xfrm>
          <a:prstGeom xmlns:a="http://schemas.openxmlformats.org/drawingml/2006/main"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65760" y="4114800"/>
            <a:ext cx="1965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5760" y="4114800"/>
            <a:ext cx="19659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38912" y="420624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Standard Class Best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38912" y="446227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Carries 53% of orders AND highest absolute profit.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560320" y="4114800"/>
            <a:ext cx="1965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560320" y="4114800"/>
            <a:ext cx="19659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633472" y="420624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Same Day Erosion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633472" y="446227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Same Day shipping shows the lowest profit margin — cost vs. revenue imbalance.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754880" y="4114800"/>
            <a:ext cx="1965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754880" y="4114800"/>
            <a:ext cx="19659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28032" y="420624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Q4 Spike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828032" y="446227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October–December accounts for ~38% of annual revenue — strong seasonality signal.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6949440" y="4114800"/>
            <a:ext cx="1965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949440" y="4114800"/>
            <a:ext cx="19659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022592" y="420624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4A"/>
                </a:solidFill>
              </a:rPr>
              <a:t>Weekday Revenue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7022592" y="446227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87% of total sales occur on weekdays — B2B-driven demand pattern.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 · KEY FINDINGS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Insights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389888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225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Consistent Revenue Growth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70432" y="152704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~20% year-on-year revenue growth from 2012 to 2015 across all markets and segments.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800600" y="1115568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0328" y="1389888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48132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05272" y="1225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Technology Dominates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605272" y="152704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Technology category leads in both revenue and profit margin — Phones &amp; Copiers are top SKUs.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65760" y="2377440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" y="265176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7432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70432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Consumer Segment Leads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170432" y="27889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Consumer segment represents 51% of revenue; Corporate shows the highest revenue-per-order.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800600" y="2377440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10328" y="2651760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27432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05272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Shipping Cost Pressure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605272" y="27889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Same Day shipping delivers the lowest profit. Standard Class optimises cost vs. service level.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65760" y="3639312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75488" y="3913632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005072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70432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Q4 Seasonality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170432" y="405079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October–December accounts for 38% of annual sales — requiring proactive inventory planning.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800600" y="3639312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910328" y="3913632"/>
            <a:ext cx="548640" cy="5486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4005072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605272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Discount Risk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605272" y="405079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Orders with &gt;40% discount consistently report negative or near-zero profit margins.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 · RECOMMENDATIONS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50292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2070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Cap Discounts at 20%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51790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Enforce a maximum 20% discount policy in CRM. Orders above this threshold consistently erode profit margins to near zero.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115568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115568"/>
            <a:ext cx="502920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46304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94960" y="12070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Invest in Technology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1517904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Reallocate marketing budget toward Technology. It drives the highest revenue with above-average margins across all markets.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377440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77440"/>
            <a:ext cx="5029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2491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468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Optimise Shipping Mix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77977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Negotiate Standard Class carrier rates. Incentivise customers to choose Standard over First Class or Same Day for non-critical orders.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2377440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377440"/>
            <a:ext cx="50292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72491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94960" y="2468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Develop LATAM Market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2779776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LATAM has reasonable order volume but lower revenue-per-order than other markets. A targeted campaign could unlock significant growth.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639312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639312"/>
            <a:ext cx="50292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86784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37307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Q4 Inventory Planning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404164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October–December generates 38% of annual revenue. Pre-position stock to prevent stockouts and protect customer satisfaction scores.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3639312"/>
            <a:ext cx="416052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639312"/>
            <a:ext cx="502920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986784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37307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Automate ETL Pipeline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4041648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Migrate manual SQL ETL to a scheduled pipeline (SQL Server Agent or dbt) to enable daily data refresh and reduce analyst overhead.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3C5FD"/>
                </a:solidFill>
              </a:rPr>
              <a:t>This project demonstrates a complete end-to-end analytics pipeline — from raw retail data through a normalised star-schema SQL warehouse to an interactive Power BI dashboard.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3042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Engineering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54203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Star schema with 5 dim tables + 1 fact table, ensuring query performance and referential integrity.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953512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9718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 Analysis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3209544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10 queries covering aggregations, HAVING, subqueries, and a reusable view (vw_sales_summary).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3621024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6393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3877056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5 Power BI pages delivering sales, product, customer, shipping and time intelligence insights.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4288536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3068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Business Value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454456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6 actionable recommendations to improve profit margins, reduce shipping costs and grow LATAM.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475488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May 2026  ·  Global Superstore Dataset  ·  Data Analysis Project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548640"/>
            <a:ext cx="3291840" cy="329184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914400"/>
            <a:ext cx="2194560" cy="219456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3C5FD"/>
                </a:solidFill>
              </a:rPr>
              <a:t>Questions &amp; Discussion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Global Superstore Sales Analytics  ·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Superstore Sales Analytics</dc:title>
  <dc:subject>PptxGenJS Presentation</dc:subject>
  <dc:creator>Data Analysis Project</dc:creator>
  <cp:lastModifiedBy>Data Analysis Project</cp:lastModifiedBy>
  <cp:revision>1</cp:revision>
  <dcterms:created xsi:type="dcterms:W3CDTF">2026-05-06T11:44:49Z</dcterms:created>
  <dcterms:modified xsi:type="dcterms:W3CDTF">2026-05-06T11:44:49Z</dcterms:modified>
</cp:coreProperties>
</file>